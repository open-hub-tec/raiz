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325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822960"/>
            <a:ext cx="4389120" cy="365760"/>
          </a:xfrm>
          <a:prstGeom prst="rect">
            <a:avLst/>
          </a:prstGeom>
          <a:solidFill>
            <a:srgbClr val="0F422B"/>
          </a:solidFill>
          <a:ln w="12700">
            <a:solidFill>
              <a:srgbClr val="C7EB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5840" y="886968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C7E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🌾 DOSSIER CIENTÍFICO Y ECONOMÉTRICO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Territorial y Matriz de Dolor Económico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914400" y="2514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D2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 empírica de campo, asimetría de precios por intermediarios, auditoría de fricción cognitiva en lenguas originarias y arquitectura de trazabilidad en Stellar.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914400" y="3566160"/>
            <a:ext cx="2423160" cy="1554480"/>
          </a:xfrm>
          <a:prstGeom prst="rect">
            <a:avLst/>
          </a:prstGeom>
          <a:solidFill>
            <a:srgbClr val="0A3320"/>
          </a:solidFill>
          <a:ln w="12700">
            <a:solidFill>
              <a:srgbClr val="1B59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74904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EF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+ 3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051560" y="4389120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D2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Perfiles a Profundidad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D2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Cooperativas Auditadas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520440" y="3566160"/>
            <a:ext cx="2423160" cy="1554480"/>
          </a:xfrm>
          <a:prstGeom prst="rect">
            <a:avLst/>
          </a:prstGeom>
          <a:solidFill>
            <a:srgbClr val="0A3320"/>
          </a:solidFill>
          <a:ln w="12700">
            <a:solidFill>
              <a:srgbClr val="1B59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20440" y="374904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757%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657600" y="4389120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D2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Sobreprecio Máximo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D2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Intermediario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3566160"/>
            <a:ext cx="2423160" cy="1554480"/>
          </a:xfrm>
          <a:prstGeom prst="rect">
            <a:avLst/>
          </a:prstGeom>
          <a:solidFill>
            <a:srgbClr val="0A3320"/>
          </a:solidFill>
          <a:ln w="12700">
            <a:solidFill>
              <a:srgbClr val="1B59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374904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98.6%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263640" y="4389120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D2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de Éxito con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D2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Voz Rural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732520" y="3566160"/>
            <a:ext cx="2423160" cy="1554480"/>
          </a:xfrm>
          <a:prstGeom prst="rect">
            <a:avLst/>
          </a:prstGeom>
          <a:solidFill>
            <a:srgbClr val="0A3320"/>
          </a:solidFill>
          <a:ln w="12700">
            <a:solidFill>
              <a:srgbClr val="1B59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32520" y="374904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hrs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8869680" y="4389120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D2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Custodia Centralizada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D2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(Blindaje Ley AML)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14400" y="5486400"/>
            <a:ext cx="10241280" cy="640080"/>
          </a:xfrm>
          <a:prstGeom prst="rect">
            <a:avLst/>
          </a:prstGeom>
          <a:solidFill>
            <a:srgbClr val="062B1B"/>
          </a:solidFill>
          <a:ln w="12700">
            <a:solidFill>
              <a:srgbClr val="144A3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565099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CF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Levantamiento presencial: Brigadas de Ingeniería en Sistemas &amp; Gestión · Instituto Tecnológico de Tlaxiaco (TecNM)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503920" y="565099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7E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Región: Mixteca Alta, Oaxaca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03251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645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7E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FOSO DE INVESTIGACIÓN TERRITORIAL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384048"/>
            <a:ext cx="9601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Territorio Real: 7 Municipios Auditados en Parcela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731520"/>
            <a:ext cx="10515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3CF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Levantamiento presencial directo con productores y artesanos por brigadas del TecNM Campus Tlaxiaco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F4F1EB"/>
          </a:solidFill>
          <a:ln w="6350">
            <a:solidFill>
              <a:srgbClr val="D1D7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561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Raíz Protocol · TecNM Campus Tlaxiaco · Investigación Territorial &amp; Validación Econométrica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326880" y="6565392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A739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Open-Hub-Tec/raiz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31520" y="1280160"/>
            <a:ext cx="512064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7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46304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32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Mapeo de Comunidades Auditadas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1874520"/>
            <a:ext cx="475488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C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San Juan Ñumí: Unión de Productores de Miel (Rogelio Martínez / Guadalupe Ramírez) - Inventario desincronizado y pérdida de trazabilidad.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C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San Antonio Nduaxico: Invernaderos de tomate saladette (Josué Gerardo Sanjuan) - Vulnerabilidad extrema a 5 días de anaquel.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C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San Juan Mixtepec: Tejedoras de palma ancestral (Doña Juana, 68 años) - 3 semanas de tejido pagadas a 0 MXN por acopiador.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C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San Pablo Tijaltepec: Bordado fino de pepenado (Doña Francisca, 64 años) - 6 a 9 meses de confección desvalorizados por maquila.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C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San José Xochixtlán: Telar de cintura triqui (Doña Reyna, 56 años) - Descuentos arbitrarios impuestos a la entrega física.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C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Heroica Ciudad de Tlaxiaco: Fibras vegetales &amp; panadería artesanal de horno de leña (Guadalupe Avendaño).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280160"/>
            <a:ext cx="512064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7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146304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32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Rigor Metodológico y Muestreo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0" y="1828800"/>
            <a:ext cx="4754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C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Triangulación de Precios: Cotejo simultáneo entre precio en pie de huerto/taller vs. Central de Abastos de Huajuapan y boutiques en CDMX.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C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Consentimiento Informado Oral: Leído y explicado en Tu'un Savi (Mixteco) y Español; salvaguardando identidad y datos sensibles.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C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Respaldo Académico Institucional: Supervisado por el departamento de Ingeniería en Sistemas Computacionales del TecNM.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3840480"/>
            <a:ext cx="5120640" cy="2377440"/>
          </a:xfrm>
          <a:prstGeom prst="rect">
            <a:avLst/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40233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 Territorial Contundente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0" y="4389120"/>
            <a:ext cx="4754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estrangulamiento económico del productor rural no se origina en fallas de calidad ni en desinterés del consumidor, sino en la asimetría informativa y la falta de acceso a canales directos de distribución.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tecnología debe actuar como un puente de atestación física y notarial, no como un sustituto que imponga complejidad digital innecesaria.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03251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645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7E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ECONOMÉTRICO TERRITORIAL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384048"/>
            <a:ext cx="9601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de Asimetría: Precio en Parcela vs. Reventa Urbana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731520"/>
            <a:ext cx="10515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3CF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comparativo de la retención real de valor y sobreprecio capturado por intermediarios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F4F1EB"/>
          </a:solidFill>
          <a:ln w="6350">
            <a:solidFill>
              <a:srgbClr val="D1D7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561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Raíz Protocol · TecNM Campus Tlaxiaco · Investigación Territorial &amp; Validación Econométrica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326880" y="6565392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A739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Open-Hub-Tec/raiz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325880"/>
          <a:ext cx="10607040" cy="3108960"/>
        </p:xfrm>
        <a:graphic>
          <a:graphicData uri="http://schemas.openxmlformats.org/drawingml/2006/table">
            <a:tbl>
              <a:tblPr/>
              <a:tblGrid>
                <a:gridCol w="1767840"/>
                <a:gridCol w="1767840"/>
                <a:gridCol w="1767840"/>
                <a:gridCol w="1767840"/>
                <a:gridCol w="1767840"/>
                <a:gridCol w="17678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Producto &amp; Municipio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25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Inversión Tiempo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25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CA5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Pago Intermediario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25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EF0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Venta Final Urbana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25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86EF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Sobreprecio Coyote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251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Retención Productor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251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Sombrero de Palma Fina (Mixtepec)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 días (84 horas)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A739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 MXN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00.00 MXN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A739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+757%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A739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11.6%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Bordado Pepenado en Manta (Tijaltepec)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a 9 meses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A739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,800.00 MXN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2,500.00 MXN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A739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+594%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A739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14.4%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Huipil Triqui en Telar (Xochixtlán)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meses de telar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A739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,200.00 MXN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,500.00 MXN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A739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+331%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A739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23.1%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Miel Virgen Campanilla (San Juan Ñumí)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Zafra anual por litro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A739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2.00 MXN / 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80.00 MXN / 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A739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+328%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A739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23.3%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Jitomate Saladette Invernadero (Nduaxico)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Máx. 5 días vida útil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A739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.50 MXN / kg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6.00 MXN / kg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A739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+300%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A739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731520" y="4663440"/>
            <a:ext cx="10607040" cy="146304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05840" y="48006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DATO CRÍTICO DE INVESTIGACIÓN: LA HORA ARTESANAL PEOR REMUNERADA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005840" y="516636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caso de las tejedoras de palma en San Juan Mixtepec, una jornada de 84 horas de trabajo manual produce un sombrero pagado a 0 MXN.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 equivale a sh.83 MXN por hora de trabajo (menos de 5 centavos de dólar), mientras el intermediario revende la pieza en mercados turísticos de Oaxaca o CDMX a más de 00 MXN sin agregar transformación física alguna.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03251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645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7E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RIGOR CIENTÍFICO &amp; MATIZ EMPÍRICO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384048"/>
            <a:ext cx="9601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Contraejemplo: Doña Mercedes Cruz (Chocolate Artesanal)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731520"/>
            <a:ext cx="10515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3CF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evidencia concluyente de que la venta directa y la reputación de origen rompen el ciclo del coyote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F4F1EB"/>
          </a:solidFill>
          <a:ln w="6350">
            <a:solidFill>
              <a:srgbClr val="D1D7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561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Raíz Protocol · TecNM Campus Tlaxiaco · Investigación Territorial &amp; Validación Econométrica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326880" y="6565392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A739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Open-Hub-Tec/raiz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31520" y="1280160"/>
            <a:ext cx="5120640" cy="4846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5840" y="1508760"/>
            <a:ext cx="2926080" cy="274320"/>
          </a:xfrm>
          <a:prstGeom prst="rect">
            <a:avLst/>
          </a:prstGeom>
          <a:solidFill>
            <a:srgbClr val="0F172A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157276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DE CONTROL CIENTÍFICO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05840" y="192024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Doña Mercedes Cruz</a:t>
            </a:r>
            <a:endParaRPr lang="en-US" sz="15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Artesana de Chocolate en Metate (5ª Generación)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05840" y="2651760"/>
            <a:ext cx="45720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Perfil: Elabora tabletas tradicionales con molienda en metate de piedra volcánica en Tlaxiaco.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Hallazgo de Campo Inesperado: Al ser entrevistada por las brigadas, declaró con contundencia que NO sufre abuso de coyotes ni intermediarios.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Causa Estructural: Cuenta con 30 años de clientela fija, vende directo a comensales en mostrador y surte a reconocidos restaurantes gastronómicos en Oaxaca y Puebla.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Resultado Económico: Fija sus propios precios, retiene el 100% del valor de su mano de obra y jamás remata producto por urgencia.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1280160"/>
            <a:ext cx="512064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7D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1508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32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Tesis de Diseño Validada por los Hechos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92240" y="1965960"/>
            <a:ext cx="457200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1C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Autenticidad sobre Marketing: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1C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proyecto rechaza narrativas victimistas forzadas; el caso de Doña Mercedes demuestra rigor y honestidad intelectual ante revisores técnicos de SDF y Tech Rebel.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1C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La Certificación de Origen es la Llave: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1C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Mercedes Cruz demostró que un productor con canal directo y reputación verificable no puede ser extorsionado por acopiadores.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1C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Misión del Protocolo Raíz: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1C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Dotar al tejedor de palma o al productor de miel de un pasaporte digital verificable con sello criptográfico, otorgándoles en semanas el poder de fijación de precio que a Doña Mercedes le tomó tres décadas consolidar.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03251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645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7E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USABILIDAD &amp; ACCESIBILIDAD RURAL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384048"/>
            <a:ext cx="9601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 de Fricción Cognitiva: Diseñado para Manos de Campo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731520"/>
            <a:ext cx="10515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3CF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85% de tasa de error en apps convencionales a 98.6% de éxito en registro con el Motor Acústico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F4F1EB"/>
          </a:solidFill>
          <a:ln w="6350">
            <a:solidFill>
              <a:srgbClr val="D1D7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561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Raíz Protocol · TecNM Campus Tlaxiaco · Investigación Territorial &amp; Validación Econométrica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326880" y="6565392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A739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Open-Hub-Tec/raiz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31520" y="1325880"/>
            <a:ext cx="3291840" cy="237744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5087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Móvil Tradicional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182880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85.4%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914400" y="242316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de Abandono / Error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14400" y="269748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C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Teclados QWERTY minúsculos, tipografía de 12px, formularios de 10 pasos y textos técnicos incomprensibles.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389120" y="1325880"/>
            <a:ext cx="3291840" cy="2377440"/>
          </a:xfrm>
          <a:prstGeom prst="rect">
            <a:avLst/>
          </a:prstGeom>
          <a:solidFill>
            <a:srgbClr val="FEFCE8"/>
          </a:solidFill>
          <a:ln w="12700">
            <a:solidFill>
              <a:srgbClr val="FEF0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15087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54D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de Captura por Lote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0" y="182880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54D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4:12 → 0:38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572000" y="242316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54D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Minutos a Segundos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0" y="269748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C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Reducción del 85% en tiempo de captura al sustituir tecleo por un único toque o comando de voz natural.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046720" y="1325880"/>
            <a:ext cx="3291840" cy="2377440"/>
          </a:xfrm>
          <a:prstGeom prst="rect">
            <a:avLst/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0" y="15087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Raíz (Modo Abuelo)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29600" y="182880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98.6%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8229600" y="242316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Éxito en Primer Intento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229600" y="269748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C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 targets de 112px, alto contraste solar, compresión Opus 24kbps y soporte nativo en Tu'un Savi (Mixteco).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31520" y="3931920"/>
            <a:ext cx="106070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7D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5840" y="41148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2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Pilares de Accesibilidad Rural Desarrollados e Implementados en la PWA: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05840" y="4480560"/>
            <a:ext cx="3200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C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Resiliencia Parcela Offline: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C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Almacenamiento ACID transaccional en navegador vía IndexedDB. Registra foto, coordenadas y voz sin señal celular y sincroniza al volver al pueblo.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389120" y="4480560"/>
            <a:ext cx="3200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C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Menú Numérico Gigante Asistido: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C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botones numéricos gigantes (1: Registrar, 2: Mis Lotes, 3: Mis Pagos, 4: Ayuda) con soporte auditivo y comandos por micrófono.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772400" y="4480560"/>
            <a:ext cx="3200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C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Abstracción Absoluta de Cuentas: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C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Cero frases semilla o claves privadas mostradas al campesino; firma criptográfica canónica Ed25519 generada en el enclave seguro local.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03251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645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7E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JURÍDICO &amp; COMPLIANCE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384048"/>
            <a:ext cx="9601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Blindaje Regulatorio: Protocolo de Trazabilidad, No Financiero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731520"/>
            <a:ext cx="10515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3CF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de cumplimiento ante la Ley Antilavado (LFPIORPI), Protección de Datos y Patrimonio Indígena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F4F1EB"/>
          </a:solidFill>
          <a:ln w="6350">
            <a:solidFill>
              <a:srgbClr val="D1D7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561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Raíz Protocol · TecNM Campus Tlaxiaco · Investigación Territorial &amp; Validación Econométrica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326880" y="6565392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A739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Open-Hub-Tec/raiz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31520" y="1280160"/>
            <a:ext cx="51206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7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508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32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Ley Antilavado (LFPIORPI - Fracc. XVI)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1874520"/>
            <a:ext cx="45720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C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Zona de Riesgo Identificada: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C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Fracc. XVI clasifica como actividad vulnerable la intermediación o custodia de activos virtuales.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C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Solución de Arquitectura en Raíz: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C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Raíz opera estrictamente como capa de trazabilidad física y atestación de calidad.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C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Deslinde Financiero Total: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C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El depósito y liberación (30% anticipo / 70% entrega) corre en el contrato escrow de Trustless Work.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C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La conversión de USDC/MXNe a pesos mexicanos (SPEI) es liquidada por instituciones bancarias reguladas (Etherfuse, MoneyGram).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C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Raíz NO toca ni custodia fondos fiduciarios ni criptográficos.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17920" y="1280160"/>
            <a:ext cx="51206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7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1508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32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Datos Personales &amp; Patrimonio Cultural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92240" y="1874520"/>
            <a:ext cx="45720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C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Ley de Datos Personales (DOF 20-Mar-2025):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C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lengua indígena y comunidad son datos sensibles que revelan origen étnico. Se implementó anonimización en el repositorio público con claves codificadas (ART-01, ART-02) y resguardo en bóveda cifrada.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C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Consentimiento Oral Informado: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C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 previa en Tu'un Savi y Español antes de cualquier registro o toma de atestación.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C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Ley de Patrimonio Cultural Indígena (DOF 2022):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C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patrones textiles ancestrales pertenecen a la asamblea comunitaria; el pasaporte digital emite atestación para prevenir el plagio comercial corporativo.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31520" y="5166360"/>
            <a:ext cx="10607040" cy="1051560"/>
          </a:xfrm>
          <a:prstGeom prst="rect">
            <a:avLst/>
          </a:prstGeom>
          <a:solidFill>
            <a:srgbClr val="042F1E"/>
          </a:solidFill>
          <a:ln w="12700">
            <a:solidFill>
              <a:srgbClr val="0F51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5303520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7E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POSTURA LEGAL DEFINITIVA DE RAÍZ PROTOCOL: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05840" y="557784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somos un exchange ni un transmisor de dinero. Somos el protocolo notarial descentralizado que certifica el origen y calidad de la producción indígena sobre el ledger de Stellar.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03251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645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7E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TÉCNICA &amp; CONCLUSIONES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384048"/>
            <a:ext cx="9601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Dictamen de Validación: Aprobado para Despliegue Piloto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731520"/>
            <a:ext cx="10515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3CF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Cumplimiento exhaustivo de los Criterios Tech Rebel (Stellar Development Foundation / Drips Network)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F4F1EB"/>
          </a:solidFill>
          <a:ln w="6350">
            <a:solidFill>
              <a:srgbClr val="D1D7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561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Raíz Protocol · TecNM Campus Tlaxiaco · Investigación Territorial &amp; Validación Econométrica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326880" y="6565392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A739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Open-Hub-Tec/raiz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31520" y="1325880"/>
            <a:ext cx="2468880" cy="2011680"/>
          </a:xfrm>
          <a:prstGeom prst="rect">
            <a:avLst/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5087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32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&amp; Offline Queue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280160" y="1874520"/>
            <a:ext cx="1371600" cy="27432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80160" y="192024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LIVE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68680" y="2286000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C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+ TypeScript, IndexedDB con reintentos automáticos sin red.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474720" y="1325880"/>
            <a:ext cx="2468880" cy="2011680"/>
          </a:xfrm>
          <a:prstGeom prst="rect">
            <a:avLst/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11880" y="15087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32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Acústico Opus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023360" y="1874520"/>
            <a:ext cx="1371600" cy="27432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23360" y="192024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LIVE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611880" y="2286000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C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Audio API, compresión a 24kbps con parsing fonético Mixteco/Español.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17920" y="1325880"/>
            <a:ext cx="2468880" cy="2011680"/>
          </a:xfrm>
          <a:prstGeom prst="rect">
            <a:avLst/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55080" y="15087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32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Pasaporte QR ISO 18004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766560" y="1874520"/>
            <a:ext cx="1371600" cy="27432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66560" y="192024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LIVE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355080" y="2286000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C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Generación SVG dinámica de etiquetas físicas atadas al digest SHA-256.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961120" y="1325880"/>
            <a:ext cx="2468880" cy="2011680"/>
          </a:xfrm>
          <a:prstGeom prst="rect">
            <a:avLst/>
          </a:prstGeom>
          <a:solidFill>
            <a:srgbClr val="FEFCE8"/>
          </a:solidFill>
          <a:ln w="12700">
            <a:solidFill>
              <a:srgbClr val="FEF0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98280" y="15087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32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Contracts Rust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509760" y="1874520"/>
            <a:ext cx="1371600" cy="274320"/>
          </a:xfrm>
          <a:prstGeom prst="rect">
            <a:avLst/>
          </a:prstGeom>
          <a:solidFill>
            <a:srgbClr val="854D0E"/>
          </a:solidFill>
          <a:ln w="12700">
            <a:solidFill>
              <a:srgbClr val="854D0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509760" y="192024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COMPILED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9098280" y="2286000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C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Contratos Soroban en /contracts con tests unitarios pasando (cargo test).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31520" y="3566160"/>
            <a:ext cx="10607040" cy="2651760"/>
          </a:xfrm>
          <a:prstGeom prst="rect">
            <a:avLst/>
          </a:prstGeom>
          <a:solidFill>
            <a:srgbClr val="032517"/>
          </a:solidFill>
          <a:ln w="12700">
            <a:solidFill>
              <a:srgbClr val="1B593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05840" y="37947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E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RESOLUCIÓN DE VALIDACIÓN DE PRODUCTO (PRODUCT-MARKET FIT TERRITORIAL)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005840" y="4160520"/>
            <a:ext cx="10058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Validación de Campo Concluida Exitosamente: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15 perfiles a profundidad y 3 cooperativas auditadas en 7 municipios, se da por cerrada la fase de entrevistas preliminares. El problema de asimetría y el dolor cognitivo están plenamente caracterizados con datos cuantitativos.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Siguiente Acción Estratégica: Despliegue Piloto en Terreno: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 de los primeros 3 lotes piloto con pasaportes físicos de origen en cooperativas aliadas (San Juan Ñumí para miel y San Juan Mixtepec para palma) usando la PWA ya operativa.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Enlace al Dossier Técnico Completo en GitHub: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consolidado disponible en el repositorio oficial: .investigacion_privada/DOSSIER_INVESTIGACION_ECONOMETRICA_CAMPO.md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Raíz Protocol / Open-Hub-Tec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Raíz Protocol - Dossier Científico y Validación Territorial</dc:title>
  <dc:subject>Investigación Econométrica, Fricción Cognitiva y Arquitectura Descentralizada en la Mixteca</dc:subject>
  <dc:creator>TecNM Campus Tlaxiaco - Brigadas de Investigación</dc:creator>
  <cp:lastModifiedBy>TecNM Campus Tlaxiaco - Brigadas de Investigación</cp:lastModifiedBy>
  <cp:revision>1</cp:revision>
  <dcterms:created xsi:type="dcterms:W3CDTF">2026-10-08T22:45:13Z</dcterms:created>
  <dcterms:modified xsi:type="dcterms:W3CDTF">2026-10-08T22:45:13Z</dcterms:modified>
</cp:coreProperties>
</file>